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ileron Heavy" charset="1" panose="00000A00000000000000"/>
      <p:regular r:id="rId19"/>
    </p:embeddedFont>
    <p:embeddedFont>
      <p:font typeface="Work Sans" charset="1" panose="00000000000000000000"/>
      <p:regular r:id="rId20"/>
    </p:embeddedFont>
    <p:embeddedFont>
      <p:font typeface="Work Sans Bold" charset="1" panose="00000000000000000000"/>
      <p:regular r:id="rId21"/>
    </p:embeddedFont>
    <p:embeddedFont>
      <p:font typeface="Aileron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6993" y="565816"/>
            <a:ext cx="11188103" cy="226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5"/>
              </a:lnSpc>
            </a:pPr>
            <a:r>
              <a:rPr lang="en-US" sz="16935" spc="-931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AI Question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80533" y="2721822"/>
            <a:ext cx="15049809" cy="211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84"/>
              </a:lnSpc>
              <a:spcBef>
                <a:spcPct val="0"/>
              </a:spcBef>
            </a:pPr>
            <a:r>
              <a:rPr lang="en-US" b="true" sz="15884" spc="-873" strike="noStrike" u="non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P</a:t>
            </a:r>
            <a:r>
              <a:rPr lang="en-US" b="true" sz="15884" spc="-873" strike="noStrike" u="non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aper  Gene</a:t>
            </a:r>
            <a:r>
              <a:rPr lang="en-US" b="true" sz="15884" spc="-873" strike="noStrike" u="non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ra</a:t>
            </a:r>
            <a:r>
              <a:rPr lang="en-US" b="true" sz="15884" spc="-873" strike="noStrike" u="non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tor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61736" y="3974380"/>
            <a:ext cx="5594051" cy="6780668"/>
          </a:xfrm>
          <a:custGeom>
            <a:avLst/>
            <a:gdLst/>
            <a:ahLst/>
            <a:cxnLst/>
            <a:rect r="r" b="b" t="t" l="l"/>
            <a:pathLst>
              <a:path h="6780668" w="5594051">
                <a:moveTo>
                  <a:pt x="0" y="0"/>
                </a:moveTo>
                <a:lnTo>
                  <a:pt x="5594051" y="0"/>
                </a:lnTo>
                <a:lnTo>
                  <a:pt x="5594051" y="6780668"/>
                </a:lnTo>
                <a:lnTo>
                  <a:pt x="0" y="678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559776" y="9065895"/>
            <a:ext cx="285138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PRESENTED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59776" y="9469755"/>
            <a:ext cx="3599868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270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GID : 2        PS :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59776" y="7134844"/>
            <a:ext cx="4588847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348943"/>
            <a:ext cx="7893877" cy="6226295"/>
          </a:xfrm>
          <a:custGeom>
            <a:avLst/>
            <a:gdLst/>
            <a:ahLst/>
            <a:cxnLst/>
            <a:rect r="r" b="b" t="t" l="l"/>
            <a:pathLst>
              <a:path h="6226295" w="7893877">
                <a:moveTo>
                  <a:pt x="0" y="0"/>
                </a:moveTo>
                <a:lnTo>
                  <a:pt x="7893877" y="0"/>
                </a:lnTo>
                <a:lnTo>
                  <a:pt x="7893877" y="6226295"/>
                </a:lnTo>
                <a:lnTo>
                  <a:pt x="0" y="6226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82168"/>
            <a:ext cx="14078968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91993"/>
            <a:ext cx="8670324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9"/>
              </a:lnSpc>
              <a:spcBef>
                <a:spcPct val="0"/>
              </a:spcBef>
            </a:pPr>
            <a:r>
              <a:rPr lang="en-US" b="true" sz="344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 design an AI-based system that automatically generates structured question papers aligned with Bloom’s taxonomy and difficulty levels.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8056" y="6397068"/>
            <a:ext cx="86703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730" indent="-372365" lvl="1">
              <a:lnSpc>
                <a:spcPts val="4139"/>
              </a:lnSpc>
              <a:buFont typeface="Arial"/>
              <a:buChar char="•"/>
            </a:pPr>
            <a:r>
              <a:rPr lang="en-US" b="true" sz="344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Automate paper generation</a:t>
            </a:r>
          </a:p>
          <a:p>
            <a:pPr algn="just" marL="744730" indent="-372365" lvl="1">
              <a:lnSpc>
                <a:spcPts val="41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4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Ensure cognitive balance</a:t>
            </a:r>
          </a:p>
          <a:p>
            <a:pPr algn="just" marL="744730" indent="-372365" lvl="1">
              <a:lnSpc>
                <a:spcPts val="41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4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Maintain academic standards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" y="276225"/>
            <a:ext cx="15273408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BLOOM’S TAXONOMY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250" y="4229100"/>
            <a:ext cx="13116149" cy="569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BLOOM’S TAXONOMY CLASSIFIES LEARNING OBJECTIVES INTO C</a:t>
            </a: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OGNITIVE LEVELS.</a:t>
            </a:r>
          </a:p>
          <a:p>
            <a:pPr algn="l">
              <a:lnSpc>
                <a:spcPts val="2629"/>
              </a:lnSpc>
            </a:pP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COGNITIVE LEVELS:</a:t>
            </a:r>
          </a:p>
          <a:p>
            <a:pPr algn="l">
              <a:lnSpc>
                <a:spcPts val="2629"/>
              </a:lnSpc>
            </a:pP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REMEMBER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UNDERSTAND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APPLY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ANALYZE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EVALUATE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CREATE</a:t>
            </a:r>
          </a:p>
          <a:p>
            <a:pPr algn="l">
              <a:lnSpc>
                <a:spcPts val="2629"/>
              </a:lnSpc>
            </a:pP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WE MAP: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EASY → REMEMBER, UNDERSTAND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MEDIUM → APPLY, ANALYZE</a:t>
            </a:r>
          </a:p>
          <a:p>
            <a:pPr algn="l">
              <a:lnSpc>
                <a:spcPts val="2629"/>
              </a:lnSpc>
            </a:pPr>
            <a:r>
              <a:rPr lang="en-US" sz="262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HARD → EVALUATE, CREATE</a:t>
            </a:r>
          </a:p>
          <a:p>
            <a:pPr algn="l">
              <a:lnSpc>
                <a:spcPts val="2629"/>
              </a:lnSpc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96730" y="3995716"/>
            <a:ext cx="8359168" cy="8305138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45628" y="2350142"/>
            <a:ext cx="3682733" cy="4706368"/>
          </a:xfrm>
          <a:custGeom>
            <a:avLst/>
            <a:gdLst/>
            <a:ahLst/>
            <a:cxnLst/>
            <a:rect r="r" b="b" t="t" l="l"/>
            <a:pathLst>
              <a:path h="4706368" w="3682733">
                <a:moveTo>
                  <a:pt x="0" y="0"/>
                </a:moveTo>
                <a:lnTo>
                  <a:pt x="3682733" y="0"/>
                </a:lnTo>
                <a:lnTo>
                  <a:pt x="3682733" y="4706368"/>
                </a:lnTo>
                <a:lnTo>
                  <a:pt x="0" y="4706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7696" y="228600"/>
            <a:ext cx="14279849" cy="329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2600" spc="-693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EXISTING SYSTEM LIMITATIONS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0669" y="3653073"/>
            <a:ext cx="8653331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CURRENT APPROACHES: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</a:t>
            </a:r>
            <a:r>
              <a:rPr lang="en-US" b="true" sz="25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ANUAL PAPER CREATION</a:t>
            </a:r>
          </a:p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RANDOM QUESTION BANKS</a:t>
            </a:r>
          </a:p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STATIC TEMPLATES</a:t>
            </a:r>
          </a:p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NO INTELLIGENT DIFFICULTY CONTROL</a:t>
            </a:r>
          </a:p>
          <a:p>
            <a:pPr algn="l" marL="0" indent="0" lvl="1">
              <a:lnSpc>
                <a:spcPts val="3119"/>
              </a:lnSpc>
            </a:pPr>
            <a:r>
              <a:rPr lang="en-US" b="true" sz="25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NO COGNITIVE-LEVEL TAGGING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0669" y="6911798"/>
            <a:ext cx="14660248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GAP IDENTIFIED: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No </a:t>
            </a:r>
            <a:r>
              <a:rPr lang="en-US" sz="26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AI-DRIVEN SYSTEM THAT GENERATES DYNAMICALLY STRUCTURED, BLOOM-ALIGNED QUESTION PAPERS.</a:t>
            </a:r>
          </a:p>
          <a:p>
            <a:pPr algn="l" marL="0" indent="0" lvl="1">
              <a:lnSpc>
                <a:spcPts val="323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76568" y="5928417"/>
            <a:ext cx="2745508" cy="1503166"/>
          </a:xfrm>
          <a:custGeom>
            <a:avLst/>
            <a:gdLst/>
            <a:ahLst/>
            <a:cxnLst/>
            <a:rect r="r" b="b" t="t" l="l"/>
            <a:pathLst>
              <a:path h="1503166" w="2745508">
                <a:moveTo>
                  <a:pt x="0" y="0"/>
                </a:moveTo>
                <a:lnTo>
                  <a:pt x="2745508" y="0"/>
                </a:lnTo>
                <a:lnTo>
                  <a:pt x="2745508" y="1503165"/>
                </a:lnTo>
                <a:lnTo>
                  <a:pt x="0" y="1503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250" y="276225"/>
            <a:ext cx="10658688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PROPOSED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81811" y="2680045"/>
            <a:ext cx="7229939" cy="109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42"/>
              </a:lnSpc>
            </a:pPr>
            <a:r>
              <a:rPr lang="en-US" b="true" sz="3856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Fine-Tuned AI-Based Question Paper Generator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9746" y="4787107"/>
            <a:ext cx="6850128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Fe</a:t>
            </a: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atures :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Bloom-level alignment</a:t>
            </a:r>
          </a:p>
          <a:p>
            <a:pPr algn="l">
              <a:lnSpc>
                <a:spcPts val="3959"/>
              </a:lnSpc>
            </a:pP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Difficulty control</a:t>
            </a:r>
          </a:p>
          <a:p>
            <a:pPr algn="l">
              <a:lnSpc>
                <a:spcPts val="3959"/>
              </a:lnSpc>
            </a:pP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Unit-wise generation</a:t>
            </a:r>
          </a:p>
          <a:p>
            <a:pPr algn="l">
              <a:lnSpc>
                <a:spcPts val="3959"/>
              </a:lnSpc>
            </a:pP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Structured formatting</a:t>
            </a:r>
          </a:p>
          <a:p>
            <a:pPr algn="l">
              <a:lnSpc>
                <a:spcPts val="3959"/>
              </a:lnSpc>
            </a:pP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Answer key generation</a:t>
            </a:r>
          </a:p>
          <a:p>
            <a:pPr algn="l">
              <a:lnSpc>
                <a:spcPts val="39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577059" y="4181475"/>
            <a:ext cx="7682241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Syst</a:t>
            </a:r>
            <a:r>
              <a:rPr lang="en-US" b="true" sz="29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em </a:t>
            </a: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accepts :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Subject</a:t>
            </a: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Unit</a:t>
            </a: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Total marks</a:t>
            </a: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Bloom distribution</a:t>
            </a: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Difficulty %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Outputs :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Structured question paper</a:t>
            </a: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Answer key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5016" y="4293126"/>
            <a:ext cx="297039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INSTEAD OF ONLY PROMPT ENGINEERING: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38408" y="4159837"/>
            <a:ext cx="3501792" cy="1542929"/>
            <a:chOff x="0" y="0"/>
            <a:chExt cx="1951343" cy="8597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1343" cy="859784"/>
            </a:xfrm>
            <a:custGeom>
              <a:avLst/>
              <a:gdLst/>
              <a:ahLst/>
              <a:cxnLst/>
              <a:rect r="r" b="b" t="t" l="l"/>
              <a:pathLst>
                <a:path h="859784" w="1951343">
                  <a:moveTo>
                    <a:pt x="1748143" y="0"/>
                  </a:moveTo>
                  <a:cubicBezTo>
                    <a:pt x="1860368" y="0"/>
                    <a:pt x="1951343" y="192469"/>
                    <a:pt x="1951343" y="429892"/>
                  </a:cubicBezTo>
                  <a:cubicBezTo>
                    <a:pt x="1951343" y="667315"/>
                    <a:pt x="1860368" y="859784"/>
                    <a:pt x="1748143" y="859784"/>
                  </a:cubicBezTo>
                  <a:lnTo>
                    <a:pt x="203200" y="859784"/>
                  </a:lnTo>
                  <a:cubicBezTo>
                    <a:pt x="90976" y="859784"/>
                    <a:pt x="0" y="667315"/>
                    <a:pt x="0" y="429892"/>
                  </a:cubicBezTo>
                  <a:cubicBezTo>
                    <a:pt x="0" y="192469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1951343" cy="821684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08418" y="7830598"/>
            <a:ext cx="30724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BENIFITS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7310" y="7702427"/>
            <a:ext cx="3334628" cy="694492"/>
            <a:chOff x="0" y="0"/>
            <a:chExt cx="195134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1343" cy="406400"/>
            </a:xfrm>
            <a:custGeom>
              <a:avLst/>
              <a:gdLst/>
              <a:ahLst/>
              <a:cxnLst/>
              <a:rect r="r" b="b" t="t" l="l"/>
              <a:pathLst>
                <a:path h="406400" w="1951343">
                  <a:moveTo>
                    <a:pt x="1748143" y="0"/>
                  </a:moveTo>
                  <a:cubicBezTo>
                    <a:pt x="1860368" y="0"/>
                    <a:pt x="1951343" y="90976"/>
                    <a:pt x="1951343" y="203200"/>
                  </a:cubicBezTo>
                  <a:cubicBezTo>
                    <a:pt x="1951343" y="315424"/>
                    <a:pt x="1860368" y="406400"/>
                    <a:pt x="17481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1951343" cy="368300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240200" y="4931301"/>
            <a:ext cx="7937110" cy="3118371"/>
          </a:xfrm>
          <a:prstGeom prst="line">
            <a:avLst/>
          </a:prstGeom>
          <a:ln cap="flat" w="19050">
            <a:solidFill>
              <a:srgbClr val="E3E2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5400000">
            <a:off x="17045625" y="262575"/>
            <a:ext cx="552450" cy="979799"/>
            <a:chOff x="0" y="0"/>
            <a:chExt cx="189122" cy="3354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122" cy="335417"/>
            </a:xfrm>
            <a:custGeom>
              <a:avLst/>
              <a:gdLst/>
              <a:ahLst/>
              <a:cxnLst/>
              <a:rect r="r" b="b" t="t" l="l"/>
              <a:pathLst>
                <a:path h="335417" w="189122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705655" y="4454835"/>
            <a:ext cx="5613459" cy="5832165"/>
          </a:xfrm>
          <a:custGeom>
            <a:avLst/>
            <a:gdLst/>
            <a:ahLst/>
            <a:cxnLst/>
            <a:rect r="r" b="b" t="t" l="l"/>
            <a:pathLst>
              <a:path h="5832165" w="5613459">
                <a:moveTo>
                  <a:pt x="0" y="0"/>
                </a:moveTo>
                <a:lnTo>
                  <a:pt x="5613460" y="0"/>
                </a:lnTo>
                <a:lnTo>
                  <a:pt x="5613460" y="5832165"/>
                </a:lnTo>
                <a:lnTo>
                  <a:pt x="0" y="5832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7696" y="276225"/>
            <a:ext cx="16369378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WHY FINE  TUNING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8408" y="6678494"/>
            <a:ext cx="7270087" cy="288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sz="29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We fine-t</a:t>
            </a:r>
            <a:r>
              <a:rPr lang="en-US" sz="29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une a language model using</a:t>
            </a:r>
          </a:p>
          <a:p>
            <a:pPr algn="just">
              <a:lnSpc>
                <a:spcPts val="3299"/>
              </a:lnSpc>
            </a:pPr>
          </a:p>
          <a:p>
            <a:pPr algn="just">
              <a:lnSpc>
                <a:spcPts val="3299"/>
              </a:lnSpc>
            </a:pPr>
            <a:r>
              <a:rPr lang="en-US" sz="2999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{GPT-3.5 Turbo}</a:t>
            </a:r>
          </a:p>
          <a:p>
            <a:pPr algn="just">
              <a:lnSpc>
                <a:spcPts val="3299"/>
              </a:lnSpc>
            </a:pPr>
          </a:p>
          <a:p>
            <a:pPr algn="just">
              <a:lnSpc>
                <a:spcPts val="3299"/>
              </a:lnSpc>
            </a:pPr>
            <a:r>
              <a:rPr lang="en-US" b="true" sz="29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Past university questi</a:t>
            </a: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on papers</a:t>
            </a:r>
          </a:p>
          <a:p>
            <a:pPr algn="just">
              <a:lnSpc>
                <a:spcPts val="3299"/>
              </a:lnSpc>
            </a:pP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Annotated Bloom levels</a:t>
            </a:r>
          </a:p>
          <a:p>
            <a:pPr algn="just" marL="0" indent="0" lvl="1">
              <a:lnSpc>
                <a:spcPts val="32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Difficulty labels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7297" y="4302651"/>
            <a:ext cx="5974654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</a:p>
          <a:p>
            <a:pPr algn="l">
              <a:lnSpc>
                <a:spcPts val="3299"/>
              </a:lnSpc>
            </a:pPr>
            <a:r>
              <a:rPr lang="en-US" b="true" sz="29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</a:t>
            </a: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earns academic structure</a:t>
            </a:r>
          </a:p>
          <a:p>
            <a:pPr algn="l">
              <a:lnSpc>
                <a:spcPts val="3299"/>
              </a:lnSpc>
            </a:pP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Consistent formatting</a:t>
            </a:r>
          </a:p>
          <a:p>
            <a:pPr algn="l">
              <a:lnSpc>
                <a:spcPts val="3299"/>
              </a:lnSpc>
            </a:pP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Pattern understanding</a:t>
            </a:r>
          </a:p>
          <a:p>
            <a:pPr algn="l">
              <a:lnSpc>
                <a:spcPts val="3299"/>
              </a:lnSpc>
            </a:pP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Reduced randomness</a:t>
            </a:r>
          </a:p>
          <a:p>
            <a:pPr algn="l">
              <a:lnSpc>
                <a:spcPts val="3299"/>
              </a:lnSpc>
            </a:pPr>
            <a:r>
              <a:rPr lang="en-US" b="true" sz="2999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Better alignment to university standards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31951" y="633413"/>
            <a:ext cx="9797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9"/>
              </a:lnSpc>
              <a:spcBef>
                <a:spcPct val="0"/>
              </a:spcBef>
            </a:pPr>
            <a:r>
              <a:rPr lang="en-US" b="true" sz="24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07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10089" y="6407696"/>
            <a:ext cx="2099575" cy="1149517"/>
          </a:xfrm>
          <a:custGeom>
            <a:avLst/>
            <a:gdLst/>
            <a:ahLst/>
            <a:cxnLst/>
            <a:rect r="r" b="b" t="t" l="l"/>
            <a:pathLst>
              <a:path h="1149517" w="2099575">
                <a:moveTo>
                  <a:pt x="0" y="0"/>
                </a:moveTo>
                <a:lnTo>
                  <a:pt x="2099575" y="0"/>
                </a:lnTo>
                <a:lnTo>
                  <a:pt x="2099575" y="1149517"/>
                </a:lnTo>
                <a:lnTo>
                  <a:pt x="0" y="1149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52239" y="729236"/>
            <a:ext cx="3698855" cy="2732529"/>
          </a:xfrm>
          <a:custGeom>
            <a:avLst/>
            <a:gdLst/>
            <a:ahLst/>
            <a:cxnLst/>
            <a:rect r="r" b="b" t="t" l="l"/>
            <a:pathLst>
              <a:path h="2732529" w="3698855">
                <a:moveTo>
                  <a:pt x="0" y="0"/>
                </a:moveTo>
                <a:lnTo>
                  <a:pt x="3698855" y="0"/>
                </a:lnTo>
                <a:lnTo>
                  <a:pt x="3698855" y="2732528"/>
                </a:lnTo>
                <a:lnTo>
                  <a:pt x="0" y="2732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6250" y="276225"/>
            <a:ext cx="11916104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DATASET COLLECTION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6250" y="6044523"/>
            <a:ext cx="6850128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Datase</a:t>
            </a: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 Source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b="true" sz="32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http://103.97.164.116:8072/MediaLinks/UniversityPaper/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16715" y="4458846"/>
            <a:ext cx="7682241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Data pr</a:t>
            </a:r>
            <a:r>
              <a:rPr lang="en-US" b="true" sz="29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epro</a:t>
            </a: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cessing:</a:t>
            </a:r>
          </a:p>
          <a:p>
            <a:pPr algn="l">
              <a:lnSpc>
                <a:spcPts val="3599"/>
              </a:lnSpc>
            </a:pPr>
          </a:p>
          <a:p>
            <a:pPr algn="l" marL="647692" indent="-323846" lvl="1">
              <a:lnSpc>
                <a:spcPts val="3599"/>
              </a:lnSpc>
              <a:buAutoNum type="arabicPeriod" startAt="1"/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Text extraction from PDFs having images</a:t>
            </a:r>
          </a:p>
          <a:p>
            <a:pPr algn="l" marL="647692" indent="-323846" lvl="1">
              <a:lnSpc>
                <a:spcPts val="3599"/>
              </a:lnSpc>
              <a:buAutoNum type="arabicPeriod" startAt="1"/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Differentiating content and tokens</a:t>
            </a:r>
          </a:p>
          <a:p>
            <a:pPr algn="l" marL="647692" indent="-323846" lvl="1">
              <a:lnSpc>
                <a:spcPts val="3599"/>
              </a:lnSpc>
              <a:buAutoNum type="arabicPeriod" startAt="1"/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Cleaning &amp; normalization</a:t>
            </a:r>
          </a:p>
          <a:p>
            <a:pPr algn="l" marL="647692" indent="-323846" lvl="1">
              <a:lnSpc>
                <a:spcPts val="3599"/>
              </a:lnSpc>
              <a:buAutoNum type="arabicPeriod" startAt="1"/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Bloom taxonomy labeling</a:t>
            </a:r>
          </a:p>
          <a:p>
            <a:pPr algn="l" marL="647692" indent="-323846" lvl="1">
              <a:lnSpc>
                <a:spcPts val="3599"/>
              </a:lnSpc>
              <a:buAutoNum type="arabicPeriod" startAt="1"/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Difficulty tagging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999" strike="noStrike" u="none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Dataset converted into structured JSON format for training.</a:t>
            </a: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336" y="1650931"/>
            <a:ext cx="8073946" cy="235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7"/>
              </a:lnSpc>
            </a:pPr>
            <a:r>
              <a:rPr lang="en-US" sz="9087" spc="-499" b="true">
                <a:solidFill>
                  <a:srgbClr val="E3E2DE"/>
                </a:solidFill>
                <a:latin typeface="Aileron Bold"/>
                <a:ea typeface="Aileron Bold"/>
                <a:cs typeface="Aileron Bold"/>
                <a:sym typeface="Aileron Bold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68687" y="473862"/>
            <a:ext cx="4876178" cy="3019781"/>
            <a:chOff x="0" y="0"/>
            <a:chExt cx="6501571" cy="402637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501571" cy="4026375"/>
              <a:chOff x="0" y="0"/>
              <a:chExt cx="1195732" cy="74050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95732" cy="740508"/>
              </a:xfrm>
              <a:custGeom>
                <a:avLst/>
                <a:gdLst/>
                <a:ahLst/>
                <a:cxnLst/>
                <a:rect r="r" b="b" t="t" l="l"/>
                <a:pathLst>
                  <a:path h="740508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665462"/>
                    </a:lnTo>
                    <a:cubicBezTo>
                      <a:pt x="1195732" y="706909"/>
                      <a:pt x="1162133" y="740508"/>
                      <a:pt x="1120686" y="740508"/>
                    </a:cubicBezTo>
                    <a:lnTo>
                      <a:pt x="75046" y="740508"/>
                    </a:lnTo>
                    <a:cubicBezTo>
                      <a:pt x="55143" y="740508"/>
                      <a:pt x="36054" y="732601"/>
                      <a:pt x="21981" y="718527"/>
                    </a:cubicBezTo>
                    <a:cubicBezTo>
                      <a:pt x="7907" y="704454"/>
                      <a:pt x="0" y="685365"/>
                      <a:pt x="0" y="665462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1195732" cy="7595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13267" y="381562"/>
              <a:ext cx="5075038" cy="3310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  <a:r>
                <a:rPr lang="en-US" b="true" sz="3243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USER INPUT - </a:t>
              </a:r>
            </a:p>
            <a:p>
              <a:pPr algn="l">
                <a:lnSpc>
                  <a:spcPts val="3243"/>
                </a:lnSpc>
              </a:pPr>
              <a:r>
                <a:rPr lang="en-US" b="true" sz="3243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SUBJECT</a:t>
              </a:r>
            </a:p>
            <a:p>
              <a:pPr algn="l">
                <a:lnSpc>
                  <a:spcPts val="3243"/>
                </a:lnSpc>
              </a:pPr>
              <a:r>
                <a:rPr lang="en-US" b="true" sz="3243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UNIT + SYLLABUS</a:t>
              </a:r>
            </a:p>
            <a:p>
              <a:pPr algn="l">
                <a:lnSpc>
                  <a:spcPts val="3243"/>
                </a:lnSpc>
              </a:pPr>
              <a:r>
                <a:rPr lang="en-US" b="true" sz="3243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TOTAL MARKS</a:t>
              </a:r>
            </a:p>
            <a:p>
              <a:pPr algn="l">
                <a:lnSpc>
                  <a:spcPts val="3243"/>
                </a:lnSpc>
              </a:pPr>
              <a:r>
                <a:rPr lang="en-US" b="true" sz="3243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BLOOM - DISTRIBUTION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65282" y="4521033"/>
            <a:ext cx="4854455" cy="5431991"/>
            <a:chOff x="0" y="0"/>
            <a:chExt cx="6472607" cy="724265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472607" cy="7242655"/>
              <a:chOff x="0" y="0"/>
              <a:chExt cx="1195732" cy="133798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95732" cy="1337988"/>
              </a:xfrm>
              <a:custGeom>
                <a:avLst/>
                <a:gdLst/>
                <a:ahLst/>
                <a:cxnLst/>
                <a:rect r="r" b="b" t="t" l="l"/>
                <a:pathLst>
                  <a:path h="1337988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1262942"/>
                    </a:lnTo>
                    <a:cubicBezTo>
                      <a:pt x="1195732" y="1304389"/>
                      <a:pt x="1162133" y="1337988"/>
                      <a:pt x="1120686" y="1337988"/>
                    </a:cubicBezTo>
                    <a:lnTo>
                      <a:pt x="75046" y="1337988"/>
                    </a:lnTo>
                    <a:cubicBezTo>
                      <a:pt x="55143" y="1337988"/>
                      <a:pt x="36054" y="1330082"/>
                      <a:pt x="21981" y="1316008"/>
                    </a:cubicBezTo>
                    <a:cubicBezTo>
                      <a:pt x="7907" y="1301934"/>
                      <a:pt x="0" y="1282846"/>
                      <a:pt x="0" y="1262942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1195732" cy="13570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6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380097"/>
              <a:ext cx="6472607" cy="6530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9"/>
                </a:lnSpc>
              </a:pPr>
              <a:r>
                <a:rPr lang="en-US" b="true" sz="3229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FINE-TUNED LLM</a:t>
              </a:r>
            </a:p>
            <a:p>
              <a:pPr algn="ctr">
                <a:lnSpc>
                  <a:spcPts val="3229"/>
                </a:lnSpc>
              </a:pPr>
            </a:p>
            <a:p>
              <a:pPr algn="ctr">
                <a:lnSpc>
                  <a:spcPts val="3229"/>
                </a:lnSpc>
              </a:pPr>
              <a:r>
                <a:rPr lang="en-US" sz="3229" b="true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↓</a:t>
              </a:r>
            </a:p>
            <a:p>
              <a:pPr algn="ctr">
                <a:lnSpc>
                  <a:spcPts val="3229"/>
                </a:lnSpc>
              </a:pPr>
            </a:p>
            <a:p>
              <a:pPr algn="ctr">
                <a:lnSpc>
                  <a:spcPts val="3229"/>
                </a:lnSpc>
              </a:pPr>
              <a:r>
                <a:rPr lang="en-US" sz="3229" b="true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St</a:t>
              </a:r>
              <a:r>
                <a:rPr lang="en-US" b="true" sz="3229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RUCTURED QUESTION PAPER + ANSWER KEY</a:t>
              </a:r>
            </a:p>
            <a:p>
              <a:pPr algn="ctr">
                <a:lnSpc>
                  <a:spcPts val="3229"/>
                </a:lnSpc>
              </a:pPr>
            </a:p>
            <a:p>
              <a:pPr algn="ctr">
                <a:lnSpc>
                  <a:spcPts val="3229"/>
                </a:lnSpc>
              </a:pPr>
              <a:r>
                <a:rPr lang="en-US" b="true" sz="3229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↓</a:t>
              </a:r>
            </a:p>
            <a:p>
              <a:pPr algn="ctr">
                <a:lnSpc>
                  <a:spcPts val="3229"/>
                </a:lnSpc>
              </a:pPr>
            </a:p>
            <a:p>
              <a:pPr algn="ctr">
                <a:lnSpc>
                  <a:spcPts val="3229"/>
                </a:lnSpc>
              </a:pPr>
              <a:r>
                <a:rPr lang="en-US" b="true" sz="3229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PDF EXPORT MODULE</a:t>
              </a:r>
            </a:p>
            <a:p>
              <a:pPr algn="ctr">
                <a:lnSpc>
                  <a:spcPts val="322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86434" y="2646976"/>
            <a:ext cx="6283244" cy="3133935"/>
            <a:chOff x="0" y="0"/>
            <a:chExt cx="8377659" cy="417858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823878" cy="4178580"/>
              <a:chOff x="0" y="0"/>
              <a:chExt cx="1534545" cy="93967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34545" cy="939674"/>
              </a:xfrm>
              <a:custGeom>
                <a:avLst/>
                <a:gdLst/>
                <a:ahLst/>
                <a:cxnLst/>
                <a:rect r="r" b="b" t="t" l="l"/>
                <a:pathLst>
                  <a:path h="939674" w="1534545">
                    <a:moveTo>
                      <a:pt x="58477" y="0"/>
                    </a:moveTo>
                    <a:lnTo>
                      <a:pt x="1476068" y="0"/>
                    </a:lnTo>
                    <a:cubicBezTo>
                      <a:pt x="1508364" y="0"/>
                      <a:pt x="1534545" y="26181"/>
                      <a:pt x="1534545" y="58477"/>
                    </a:cubicBezTo>
                    <a:lnTo>
                      <a:pt x="1534545" y="881197"/>
                    </a:lnTo>
                    <a:cubicBezTo>
                      <a:pt x="1534545" y="913493"/>
                      <a:pt x="1508364" y="939674"/>
                      <a:pt x="1476068" y="939674"/>
                    </a:cubicBezTo>
                    <a:lnTo>
                      <a:pt x="58477" y="939674"/>
                    </a:lnTo>
                    <a:cubicBezTo>
                      <a:pt x="26181" y="939674"/>
                      <a:pt x="0" y="913493"/>
                      <a:pt x="0" y="881197"/>
                    </a:cubicBezTo>
                    <a:lnTo>
                      <a:pt x="0" y="58477"/>
                    </a:lnTo>
                    <a:cubicBezTo>
                      <a:pt x="0" y="26181"/>
                      <a:pt x="26181" y="0"/>
                      <a:pt x="58477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534545" cy="9587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513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48626" y="894148"/>
              <a:ext cx="7629033" cy="2428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b="true" sz="2835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BACKEND PROCESSING -</a:t>
              </a:r>
            </a:p>
            <a:p>
              <a:pPr algn="l">
                <a:lnSpc>
                  <a:spcPts val="2835"/>
                </a:lnSpc>
              </a:pPr>
            </a:p>
            <a:p>
              <a:pPr algn="l">
                <a:lnSpc>
                  <a:spcPts val="2835"/>
                </a:lnSpc>
              </a:pPr>
              <a:r>
                <a:rPr lang="en-US" b="true" sz="2835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PROMPT STRUCTURING</a:t>
              </a:r>
            </a:p>
            <a:p>
              <a:pPr algn="l">
                <a:lnSpc>
                  <a:spcPts val="2835"/>
                </a:lnSpc>
              </a:pPr>
              <a:r>
                <a:rPr lang="en-US" b="true" sz="2835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FINE-TUNED MODEL INVOCATION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" y="228600"/>
            <a:ext cx="9439878" cy="761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2"/>
              </a:lnSpc>
            </a:pPr>
            <a:r>
              <a:rPr lang="en-US" sz="11882" spc="-653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WHY </a:t>
            </a:r>
          </a:p>
          <a:p>
            <a:pPr algn="l">
              <a:lnSpc>
                <a:spcPts val="11882"/>
              </a:lnSpc>
            </a:pPr>
            <a:r>
              <a:rPr lang="en-US" sz="11882" spc="-653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NOT </a:t>
            </a:r>
          </a:p>
          <a:p>
            <a:pPr algn="l">
              <a:lnSpc>
                <a:spcPts val="11882"/>
              </a:lnSpc>
            </a:pPr>
            <a:r>
              <a:rPr lang="en-US" sz="11882" spc="-653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DIRECT PROMPTING </a:t>
            </a:r>
          </a:p>
          <a:p>
            <a:pPr algn="l">
              <a:lnSpc>
                <a:spcPts val="11882"/>
              </a:lnSpc>
            </a:pPr>
            <a:r>
              <a:rPr lang="en-US" sz="11882" spc="-653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LLM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27475" y="1792319"/>
            <a:ext cx="5311667" cy="3099115"/>
            <a:chOff x="0" y="0"/>
            <a:chExt cx="7082223" cy="413215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20316"/>
              <a:ext cx="7082223" cy="3529855"/>
              <a:chOff x="0" y="0"/>
              <a:chExt cx="1769769" cy="8820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69769" cy="882072"/>
              </a:xfrm>
              <a:custGeom>
                <a:avLst/>
                <a:gdLst/>
                <a:ahLst/>
                <a:cxnLst/>
                <a:rect r="r" b="b" t="t" l="l"/>
                <a:pathLst>
                  <a:path h="882072" w="1769769">
                    <a:moveTo>
                      <a:pt x="50704" y="0"/>
                    </a:moveTo>
                    <a:lnTo>
                      <a:pt x="1719065" y="0"/>
                    </a:lnTo>
                    <a:cubicBezTo>
                      <a:pt x="1747068" y="0"/>
                      <a:pt x="1769769" y="22701"/>
                      <a:pt x="1769769" y="50704"/>
                    </a:cubicBezTo>
                    <a:lnTo>
                      <a:pt x="1769769" y="831367"/>
                    </a:lnTo>
                    <a:cubicBezTo>
                      <a:pt x="1769769" y="859371"/>
                      <a:pt x="1747068" y="882072"/>
                      <a:pt x="1719065" y="882072"/>
                    </a:cubicBezTo>
                    <a:lnTo>
                      <a:pt x="50704" y="882072"/>
                    </a:lnTo>
                    <a:cubicBezTo>
                      <a:pt x="37257" y="882072"/>
                      <a:pt x="24360" y="876730"/>
                      <a:pt x="14851" y="867221"/>
                    </a:cubicBezTo>
                    <a:cubicBezTo>
                      <a:pt x="5342" y="857712"/>
                      <a:pt x="0" y="844815"/>
                      <a:pt x="0" y="831367"/>
                    </a:cubicBezTo>
                    <a:lnTo>
                      <a:pt x="0" y="50704"/>
                    </a:lnTo>
                    <a:cubicBezTo>
                      <a:pt x="0" y="37257"/>
                      <a:pt x="5342" y="24360"/>
                      <a:pt x="14851" y="14851"/>
                    </a:cubicBezTo>
                    <a:cubicBezTo>
                      <a:pt x="24360" y="5342"/>
                      <a:pt x="37257" y="0"/>
                      <a:pt x="50704" y="0"/>
                    </a:cubicBezTo>
                    <a:close/>
                  </a:path>
                </a:pathLst>
              </a:custGeom>
              <a:solidFill>
                <a:srgbClr val="E3E2DE"/>
              </a:solidFill>
              <a:ln w="9525" cap="rnd">
                <a:solidFill>
                  <a:srgbClr val="1351AA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1769769" cy="9011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40086" y="38100"/>
              <a:ext cx="6002051" cy="409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7"/>
                </a:lnSpc>
              </a:pPr>
            </a:p>
            <a:p>
              <a:pPr algn="l">
                <a:lnSpc>
                  <a:spcPts val="2387"/>
                </a:lnSpc>
              </a:pPr>
              <a:r>
                <a:rPr lang="en-US" sz="2387" b="true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Coll</a:t>
              </a:r>
              <a:r>
                <a:rPr lang="en-US" b="true" sz="2387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EGE-SPECIFIC TRAINING</a:t>
              </a:r>
            </a:p>
            <a:p>
              <a:pPr algn="l">
                <a:lnSpc>
                  <a:spcPts val="2987"/>
                </a:lnSpc>
              </a:pPr>
              <a:r>
                <a:rPr lang="en-US" b="true" sz="2987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FINE-TUNED ON PREVIOUS PAPERS TO MATCH OUR UNIVERSITY PATTERN AND STANDARDS</a:t>
              </a:r>
            </a:p>
            <a:p>
              <a:pPr algn="l">
                <a:lnSpc>
                  <a:spcPts val="2387"/>
                </a:lnSpc>
              </a:pPr>
            </a:p>
            <a:p>
              <a:pPr algn="l">
                <a:lnSpc>
                  <a:spcPts val="23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27475" y="6429121"/>
            <a:ext cx="5311667" cy="2565476"/>
            <a:chOff x="0" y="0"/>
            <a:chExt cx="7082223" cy="342063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082223" cy="3420635"/>
              <a:chOff x="0" y="0"/>
              <a:chExt cx="1769769" cy="8547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69769" cy="854779"/>
              </a:xfrm>
              <a:custGeom>
                <a:avLst/>
                <a:gdLst/>
                <a:ahLst/>
                <a:cxnLst/>
                <a:rect r="r" b="b" t="t" l="l"/>
                <a:pathLst>
                  <a:path h="854779" w="1769769">
                    <a:moveTo>
                      <a:pt x="50704" y="0"/>
                    </a:moveTo>
                    <a:lnTo>
                      <a:pt x="1719065" y="0"/>
                    </a:lnTo>
                    <a:cubicBezTo>
                      <a:pt x="1747068" y="0"/>
                      <a:pt x="1769769" y="22701"/>
                      <a:pt x="1769769" y="50704"/>
                    </a:cubicBezTo>
                    <a:lnTo>
                      <a:pt x="1769769" y="804075"/>
                    </a:lnTo>
                    <a:cubicBezTo>
                      <a:pt x="1769769" y="817522"/>
                      <a:pt x="1764427" y="830419"/>
                      <a:pt x="1754918" y="839928"/>
                    </a:cubicBezTo>
                    <a:cubicBezTo>
                      <a:pt x="1745410" y="849437"/>
                      <a:pt x="1732513" y="854779"/>
                      <a:pt x="1719065" y="854779"/>
                    </a:cubicBezTo>
                    <a:lnTo>
                      <a:pt x="50704" y="854779"/>
                    </a:lnTo>
                    <a:cubicBezTo>
                      <a:pt x="37257" y="854779"/>
                      <a:pt x="24360" y="849437"/>
                      <a:pt x="14851" y="839928"/>
                    </a:cubicBezTo>
                    <a:cubicBezTo>
                      <a:pt x="5342" y="830419"/>
                      <a:pt x="0" y="817522"/>
                      <a:pt x="0" y="804075"/>
                    </a:cubicBezTo>
                    <a:lnTo>
                      <a:pt x="0" y="50704"/>
                    </a:lnTo>
                    <a:cubicBezTo>
                      <a:pt x="0" y="37257"/>
                      <a:pt x="5342" y="24360"/>
                      <a:pt x="14851" y="14851"/>
                    </a:cubicBezTo>
                    <a:cubicBezTo>
                      <a:pt x="24360" y="5342"/>
                      <a:pt x="37257" y="0"/>
                      <a:pt x="50704" y="0"/>
                    </a:cubicBezTo>
                    <a:close/>
                  </a:path>
                </a:pathLst>
              </a:custGeom>
              <a:solidFill>
                <a:srgbClr val="E3E2DE"/>
              </a:solidFill>
              <a:ln w="9525" cap="rnd">
                <a:solidFill>
                  <a:srgbClr val="1351AA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1769769" cy="8738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40086" y="384651"/>
              <a:ext cx="6050178" cy="268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7"/>
                </a:lnSpc>
              </a:pPr>
              <a:r>
                <a:rPr lang="en-US" sz="2287" b="true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Accurat</a:t>
              </a:r>
              <a:r>
                <a:rPr lang="en-US" b="true" sz="2287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 &amp; RELEVANT CONTENT</a:t>
              </a:r>
            </a:p>
            <a:p>
              <a:pPr algn="l">
                <a:lnSpc>
                  <a:spcPts val="2787"/>
                </a:lnSpc>
              </a:pPr>
              <a:r>
                <a:rPr lang="en-US" b="true" sz="2787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GENERATES UNIT-BASED, NON-REPETITIVE QUESTIONS WITH CONSISTENT FORMAT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73693" y="4421738"/>
            <a:ext cx="5085607" cy="2137754"/>
            <a:chOff x="0" y="0"/>
            <a:chExt cx="6780809" cy="285033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780809" cy="2850339"/>
              <a:chOff x="0" y="0"/>
              <a:chExt cx="1769769" cy="74392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69769" cy="743929"/>
              </a:xfrm>
              <a:custGeom>
                <a:avLst/>
                <a:gdLst/>
                <a:ahLst/>
                <a:cxnLst/>
                <a:rect r="r" b="b" t="t" l="l"/>
                <a:pathLst>
                  <a:path h="743929" w="1769769">
                    <a:moveTo>
                      <a:pt x="50704" y="0"/>
                    </a:moveTo>
                    <a:lnTo>
                      <a:pt x="1719065" y="0"/>
                    </a:lnTo>
                    <a:cubicBezTo>
                      <a:pt x="1747068" y="0"/>
                      <a:pt x="1769769" y="22701"/>
                      <a:pt x="1769769" y="50704"/>
                    </a:cubicBezTo>
                    <a:lnTo>
                      <a:pt x="1769769" y="693225"/>
                    </a:lnTo>
                    <a:cubicBezTo>
                      <a:pt x="1769769" y="706673"/>
                      <a:pt x="1764427" y="719569"/>
                      <a:pt x="1754918" y="729078"/>
                    </a:cubicBezTo>
                    <a:cubicBezTo>
                      <a:pt x="1745410" y="738587"/>
                      <a:pt x="1732513" y="743929"/>
                      <a:pt x="1719065" y="743929"/>
                    </a:cubicBezTo>
                    <a:lnTo>
                      <a:pt x="50704" y="743929"/>
                    </a:lnTo>
                    <a:cubicBezTo>
                      <a:pt x="37257" y="743929"/>
                      <a:pt x="24360" y="738587"/>
                      <a:pt x="14851" y="729078"/>
                    </a:cubicBezTo>
                    <a:cubicBezTo>
                      <a:pt x="5342" y="719569"/>
                      <a:pt x="0" y="706673"/>
                      <a:pt x="0" y="693225"/>
                    </a:cubicBezTo>
                    <a:lnTo>
                      <a:pt x="0" y="50704"/>
                    </a:lnTo>
                    <a:cubicBezTo>
                      <a:pt x="0" y="37257"/>
                      <a:pt x="5342" y="24360"/>
                      <a:pt x="14851" y="14851"/>
                    </a:cubicBezTo>
                    <a:cubicBezTo>
                      <a:pt x="24360" y="5342"/>
                      <a:pt x="37257" y="0"/>
                      <a:pt x="50704" y="0"/>
                    </a:cubicBezTo>
                    <a:close/>
                  </a:path>
                </a:pathLst>
              </a:custGeom>
              <a:solidFill>
                <a:srgbClr val="E3E2DE"/>
              </a:solidFill>
              <a:ln w="9525" cap="rnd">
                <a:solidFill>
                  <a:srgbClr val="1351AA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769769" cy="762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17100" y="28575"/>
              <a:ext cx="6118802" cy="2459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1865"/>
                </a:lnSpc>
              </a:pPr>
              <a:r>
                <a:rPr lang="en-US" b="true" sz="1865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BA</a:t>
              </a:r>
              <a:r>
                <a:rPr lang="en-US" sz="1865" b="true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l</a:t>
              </a:r>
              <a:r>
                <a:rPr lang="en-US" b="true" sz="1865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ANC</a:t>
              </a:r>
              <a:r>
                <a:rPr lang="en-US" b="true" sz="1865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ED &amp; STRUCTURED OUTPUT</a:t>
              </a:r>
            </a:p>
            <a:p>
              <a:pPr algn="l">
                <a:lnSpc>
                  <a:spcPts val="2631"/>
                </a:lnSpc>
              </a:pPr>
              <a:r>
                <a:rPr lang="en-US" b="true" sz="2631">
                  <a:solidFill>
                    <a:srgbClr val="1351AA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ENSURES PROPER BLOOM’S TAXONOMY COVERAGE AND DIFFICULTY DISTRIBUTION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96" y="276225"/>
            <a:ext cx="10663994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EXPECTEDOUTCOMES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9104" y="4457700"/>
            <a:ext cx="12869092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</a:p>
          <a:p>
            <a:pPr algn="l">
              <a:lnSpc>
                <a:spcPts val="4797"/>
              </a:lnSpc>
            </a:pPr>
            <a:r>
              <a:rPr lang="en-US" sz="3998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</a:t>
            </a:r>
            <a:r>
              <a:rPr lang="en-US" sz="3998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utomated paper generation</a:t>
            </a:r>
          </a:p>
          <a:p>
            <a:pPr algn="l">
              <a:lnSpc>
                <a:spcPts val="4797"/>
              </a:lnSpc>
            </a:pPr>
            <a:r>
              <a:rPr lang="en-US" sz="3998" b="tru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Reduced faculty workload</a:t>
            </a:r>
          </a:p>
          <a:p>
            <a:pPr algn="l">
              <a:lnSpc>
                <a:spcPts val="4797"/>
              </a:lnSpc>
            </a:pPr>
            <a:r>
              <a:rPr lang="en-US" b="true" sz="3998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Consistent cogni</a:t>
            </a:r>
            <a:r>
              <a:rPr lang="en-US" b="true" sz="3998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tive balance</a:t>
            </a:r>
          </a:p>
          <a:p>
            <a:pPr algn="l">
              <a:lnSpc>
                <a:spcPts val="4797"/>
              </a:lnSpc>
            </a:pPr>
            <a:r>
              <a:rPr lang="en-US" b="true" sz="3998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Scalable academic solution</a:t>
            </a:r>
          </a:p>
          <a:p>
            <a:pPr algn="l">
              <a:lnSpc>
                <a:spcPts val="4797"/>
              </a:lnSpc>
            </a:pPr>
            <a:r>
              <a:rPr lang="en-US" b="true" sz="3998" strike="noStrike" u="none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AI-powered educational support system</a:t>
            </a:r>
          </a:p>
          <a:p>
            <a:pPr algn="l">
              <a:lnSpc>
                <a:spcPts val="4797"/>
              </a:lnSpc>
            </a:pPr>
          </a:p>
          <a:p>
            <a:pPr algn="l">
              <a:lnSpc>
                <a:spcPts val="479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427231" y="2025925"/>
            <a:ext cx="6235150" cy="6235150"/>
          </a:xfrm>
          <a:custGeom>
            <a:avLst/>
            <a:gdLst/>
            <a:ahLst/>
            <a:cxnLst/>
            <a:rect r="r" b="b" t="t" l="l"/>
            <a:pathLst>
              <a:path h="6235150" w="6235150">
                <a:moveTo>
                  <a:pt x="0" y="0"/>
                </a:moveTo>
                <a:lnTo>
                  <a:pt x="6235150" y="0"/>
                </a:lnTo>
                <a:lnTo>
                  <a:pt x="6235150" y="6235150"/>
                </a:lnTo>
                <a:lnTo>
                  <a:pt x="0" y="6235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64612" y="163482"/>
            <a:ext cx="7158776" cy="9960036"/>
          </a:xfrm>
          <a:custGeom>
            <a:avLst/>
            <a:gdLst/>
            <a:ahLst/>
            <a:cxnLst/>
            <a:rect r="r" b="b" t="t" l="l"/>
            <a:pathLst>
              <a:path h="9960036" w="7158776">
                <a:moveTo>
                  <a:pt x="0" y="0"/>
                </a:moveTo>
                <a:lnTo>
                  <a:pt x="7158776" y="0"/>
                </a:lnTo>
                <a:lnTo>
                  <a:pt x="7158776" y="9960036"/>
                </a:lnTo>
                <a:lnTo>
                  <a:pt x="0" y="9960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4128516"/>
            <a:ext cx="7315200" cy="2029968"/>
          </a:xfrm>
          <a:custGeom>
            <a:avLst/>
            <a:gdLst/>
            <a:ahLst/>
            <a:cxnLst/>
            <a:rect r="r" b="b" t="t" l="l"/>
            <a:pathLst>
              <a:path h="2029968" w="7315200">
                <a:moveTo>
                  <a:pt x="0" y="0"/>
                </a:moveTo>
                <a:lnTo>
                  <a:pt x="7315200" y="0"/>
                </a:lnTo>
                <a:lnTo>
                  <a:pt x="7315200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7539" y="2475902"/>
            <a:ext cx="10952921" cy="540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4"/>
              </a:lnSpc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{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</a:t>
            </a: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Batch": "TY Mechanical",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"subject": "Manufacturing Engineering",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"unit": 4,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"unit_name": "Jigs and Fixtures",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"question": "(a) What are the principles of clamping?",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"marks": 5,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"difficulty": "Easy",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"bloom_level": "Understand",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"year": 2023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r>
              <a:rPr lang="en-US" b="true" sz="3844" spc="-21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DAHDlDRw8hA</dc:identifier>
  <dcterms:modified xsi:type="dcterms:W3CDTF">2011-08-01T06:04:30Z</dcterms:modified>
  <cp:revision>1</cp:revision>
  <dc:title>GAI</dc:title>
</cp:coreProperties>
</file>